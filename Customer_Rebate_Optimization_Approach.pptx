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wide"/>
  <p:notesSz cx="6858000" cy="9144000"/>
  <p:defaultTextStyle>
    <a:defPPr>
      <a:defRPr lang="en-GB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40080" y="1234440"/>
            <a:ext cx="8869680" cy="12344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200" b="1">
                <a:solidFill>
                  <a:srgbClr val="0F172A"/>
                </a:solidFill>
              </a:rPr>
              <a:t>Customer Rebate Optimization</a:t>
            </a:r>
          </a:p>
          <a:p>
            <a:pPr>
              <a:buNone/>
            </a:pPr>
            <a:r>
              <a:rPr lang="en-GB" sz="2600" b="1">
                <a:solidFill>
                  <a:srgbClr val="0EA5A3"/>
                </a:solidFill>
              </a:rPr>
              <a:t>Approach and financial benefit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27432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0">
                <a:solidFill>
                  <a:srgbClr val="334155"/>
                </a:solidFill>
              </a:rPr>
              <a:t>A practical workflow to identify customers receiving higher rebates than comparable customers, prioritise renewal action, and recover unnecessary rebate spend.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493776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1400" b="0">
                <a:solidFill>
                  <a:srgbClr val="64748B"/>
                </a:solidFill>
              </a:rPr>
              <a:t>Prepared from current Streamlit methodology | 22 Jun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7589520" y="2331720"/>
            <a:ext cx="3566160" cy="25603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7818120" y="2606040"/>
            <a:ext cx="3108960" cy="19659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000" b="1">
                <a:solidFill>
                  <a:srgbClr val="0369A1"/>
                </a:solidFill>
              </a:rPr>
              <a:t>Core idea</a:t>
            </a:r>
          </a:p>
          <a:p>
            <a:pPr>
              <a:buNone/>
            </a:pPr>
            <a:r>
              <a:rPr lang="en-GB" sz="2000" b="0">
                <a:solidFill>
                  <a:srgbClr val="0F172A"/>
                </a:solidFill>
              </a:rPr>
              <a:t>Compare each customer against the median rebate of similar customers, then convert excess rebate into a GBP opportunity.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685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000" b="1">
                <a:solidFill>
                  <a:srgbClr val="0F172A"/>
                </a:solidFill>
              </a:rPr>
              <a:t>Why this matters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0">
                <a:solidFill>
                  <a:srgbClr val="475569"/>
                </a:solidFill>
              </a:rPr>
              <a:t>Rebate leakage is hard to see when customers are reviewed one by one.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080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172A"/>
                </a:solidFill>
              </a:rPr>
              <a:t>Business challenge</a:t>
            </a:r>
          </a:p>
          <a:p>
            <a:pPr marL="285750" indent="-171450">
              <a:buChar char="?"/>
            </a:pPr>
            <a:r>
              <a:rPr lang="en-GB" sz="1800" b="0">
                <a:solidFill>
                  <a:srgbClr val="334155"/>
                </a:solidFill>
              </a:rPr>
              <a:t>Similar customers can receive materially different rebate levels.</a:t>
            </a:r>
          </a:p>
          <a:p>
            <a:pPr marL="285750" indent="-171450">
              <a:buChar char="?"/>
            </a:pPr>
            <a:r>
              <a:rPr lang="en-GB" sz="1800" b="0">
                <a:solidFill>
                  <a:srgbClr val="334155"/>
                </a:solidFill>
              </a:rPr>
              <a:t>Manual review makes it difficult to distinguish justified differences from leakage.</a:t>
            </a:r>
          </a:p>
          <a:p>
            <a:pPr marL="285750" indent="-171450">
              <a:buChar char="?"/>
            </a:pPr>
            <a:r>
              <a:rPr lang="en-GB" sz="1800" b="0">
                <a:solidFill>
                  <a:srgbClr val="334155"/>
                </a:solidFill>
              </a:rPr>
              <a:t>Renewal teams need a ranked, evidence-backed target list.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34840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172A"/>
                </a:solidFill>
              </a:rPr>
              <a:t>Decision needed</a:t>
            </a:r>
          </a:p>
          <a:p>
            <a:pPr marL="285750" indent="-171450">
              <a:buChar char="?"/>
            </a:pPr>
            <a:r>
              <a:rPr lang="en-GB" sz="1800" b="0">
                <a:solidFill>
                  <a:srgbClr val="334155"/>
                </a:solidFill>
              </a:rPr>
              <a:t>Which customers are over-rebated versus comparable peers?</a:t>
            </a:r>
          </a:p>
          <a:p>
            <a:pPr marL="285750" indent="-171450">
              <a:buChar char="?"/>
            </a:pPr>
            <a:r>
              <a:rPr lang="en-GB" sz="1800" b="0">
                <a:solidFill>
                  <a:srgbClr val="334155"/>
                </a:solidFill>
              </a:rPr>
              <a:t>Which clusters have the largest savings potential?</a:t>
            </a:r>
          </a:p>
          <a:p>
            <a:pPr marL="285750" indent="-171450">
              <a:buChar char="?"/>
            </a:pPr>
            <a:r>
              <a:rPr lang="en-GB" sz="1800" b="0">
                <a:solidFill>
                  <a:srgbClr val="334155"/>
                </a:solidFill>
              </a:rPr>
              <a:t>Where should commercial teams focus first?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0" y="2148840"/>
            <a:ext cx="3017520" cy="2103120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172A"/>
                </a:solidFill>
              </a:rPr>
              <a:t>Outcome</a:t>
            </a:r>
          </a:p>
          <a:p>
            <a:pPr>
              <a:buNone/>
            </a:pPr>
            <a:r>
              <a:rPr lang="en-GB" sz="1900" b="0">
                <a:solidFill>
                  <a:srgbClr val="0F766E"/>
                </a:solidFill>
              </a:rPr>
              <a:t>A repeatable dashboard that converts rebate variance into renewal actions and quantified GBP opportunity.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80" y="6446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800" b="0">
                <a:solidFill>
                  <a:srgbClr val="64748B"/>
                </a:solidFill>
              </a:rPr>
              <a:t>Customer Rebate Optimization Dashboard | Business approach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685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000" b="1">
                <a:solidFill>
                  <a:srgbClr val="0F172A"/>
                </a:solidFill>
              </a:rPr>
              <a:t>Analytical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0">
                <a:solidFill>
                  <a:srgbClr val="475569"/>
                </a:solidFill>
              </a:rPr>
              <a:t>The app keeps the business interaction lightweight by using pre-built PCA outputs.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205740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1800" b="1">
                <a:solidFill>
                  <a:srgbClr val="0F172A"/>
                </a:solidFill>
              </a:rPr>
              <a:t>1. Prepare data</a:t>
            </a:r>
          </a:p>
          <a:p>
            <a:pPr>
              <a:buNone/>
            </a:pPr>
            <a:r>
              <a:rPr lang="en-GB" sz="1400" b="0">
                <a:solidFill>
                  <a:srgbClr val="334155"/>
                </a:solidFill>
              </a:rPr>
              <a:t>Raw customer, volume, rebate and site variables are prepared outside the app.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80360" y="205740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1800" b="1">
                <a:solidFill>
                  <a:srgbClr val="0F172A"/>
                </a:solidFill>
              </a:rPr>
              <a:t>2. Reduce complexity</a:t>
            </a:r>
          </a:p>
          <a:p>
            <a:pPr>
              <a:buNone/>
            </a:pPr>
            <a:r>
              <a:rPr lang="en-GB" sz="1400" b="0">
                <a:solidFill>
                  <a:srgbClr val="334155"/>
                </a:solidFill>
              </a:rPr>
              <a:t>PCA converts many correlated features into components while retaining 92.2% variance.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20640" y="205740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1800" b="1">
                <a:solidFill>
                  <a:srgbClr val="0F172A"/>
                </a:solidFill>
              </a:rPr>
              <a:t>3. Group peers</a:t>
            </a:r>
          </a:p>
          <a:p>
            <a:pPr>
              <a:buNone/>
            </a:pPr>
            <a:r>
              <a:rPr lang="en-GB" sz="1400" b="0">
                <a:solidFill>
                  <a:srgbClr val="334155"/>
                </a:solidFill>
              </a:rPr>
              <a:t>KMeans clusters customers on PC1-PC5 using 3, 4 or 5 clusters.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60920" y="205740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1800" b="1">
                <a:solidFill>
                  <a:srgbClr val="0F172A"/>
                </a:solidFill>
              </a:rPr>
              <a:t>4. Benchmark rebate</a:t>
            </a:r>
          </a:p>
          <a:p>
            <a:pPr>
              <a:buNone/>
            </a:pPr>
            <a:r>
              <a:rPr lang="en-GB" sz="1400" b="0">
                <a:solidFill>
                  <a:srgbClr val="334155"/>
                </a:solidFill>
              </a:rPr>
              <a:t>Each customer is compared to the median rebate in their own cluster.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1200" y="205740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1800" b="1">
                <a:solidFill>
                  <a:srgbClr val="0F172A"/>
                </a:solidFill>
              </a:rPr>
              <a:t>5. Prioritise action</a:t>
            </a:r>
          </a:p>
          <a:p>
            <a:pPr>
              <a:buNone/>
            </a:pPr>
            <a:r>
              <a:rPr lang="en-GB" sz="1400" b="0">
                <a:solidFill>
                  <a:srgbClr val="334155"/>
                </a:solidFill>
              </a:rPr>
              <a:t>High positive gaps become over-rebated renewal targets with GBP savings.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0080" y="6446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800" b="0">
                <a:solidFill>
                  <a:srgbClr val="64748B"/>
                </a:solidFill>
              </a:rPr>
              <a:t>Customer Rebate Optimization Dashboard | Business approach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685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000" b="1">
                <a:solidFill>
                  <a:srgbClr val="0F172A"/>
                </a:solidFill>
              </a:rPr>
              <a:t>Financial benefit logic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0">
                <a:solidFill>
                  <a:srgbClr val="475569"/>
                </a:solidFill>
              </a:rPr>
              <a:t>Savings are estimated only where the customer rebate is above the comparable-cluster benchmark.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2960" y="2057400"/>
            <a:ext cx="2926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000" b="1">
                <a:solidFill>
                  <a:srgbClr val="0F172A"/>
                </a:solidFill>
              </a:rPr>
              <a:t>Cluster median rebate</a:t>
            </a:r>
          </a:p>
          <a:p>
            <a:pPr>
              <a:buNone/>
            </a:pPr>
            <a:r>
              <a:rPr lang="en-GB" sz="1700" b="0">
                <a:solidFill>
                  <a:srgbClr val="334155"/>
                </a:solidFill>
              </a:rPr>
              <a:t>The fair peer benchmark for each group of similar customers.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9120" y="2057400"/>
            <a:ext cx="2926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000" b="1">
                <a:solidFill>
                  <a:srgbClr val="0F172A"/>
                </a:solidFill>
              </a:rPr>
              <a:t>Rebate gap</a:t>
            </a:r>
          </a:p>
          <a:p>
            <a:pPr>
              <a:buNone/>
            </a:pPr>
            <a:r>
              <a:rPr lang="en-GB" sz="1700" b="0">
                <a:solidFill>
                  <a:srgbClr val="334155"/>
                </a:solidFill>
              </a:rPr>
              <a:t>Current customer rebate minus the cluster median rebate.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55279" y="2057400"/>
            <a:ext cx="2926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000" b="1">
                <a:solidFill>
                  <a:srgbClr val="0F172A"/>
                </a:solidFill>
              </a:rPr>
              <a:t>GBP opportunity</a:t>
            </a:r>
          </a:p>
          <a:p>
            <a:pPr>
              <a:buNone/>
            </a:pPr>
            <a:r>
              <a:rPr lang="en-GB" sz="1700" b="0">
                <a:solidFill>
                  <a:srgbClr val="334155"/>
                </a:solidFill>
              </a:rPr>
              <a:t>Positive gap x customer volume / 100, clipped at zero.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7280" y="4160520"/>
            <a:ext cx="987552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766E"/>
                </a:solidFill>
              </a:rPr>
              <a:t>Target rule: customers with a rebate-gap z-score above 1.5 are flagged as Over Rebated and prioritised for renewal review.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0080" y="6446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800" b="0">
                <a:solidFill>
                  <a:srgbClr val="64748B"/>
                </a:solidFill>
              </a:rPr>
              <a:t>Customer Rebate Optimization Dashboard | Business approach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685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000" b="1">
                <a:solidFill>
                  <a:srgbClr val="0F172A"/>
                </a:solidFill>
              </a:rPr>
              <a:t>Current mock-data estimate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0">
                <a:solidFill>
                  <a:srgbClr val="475569"/>
                </a:solidFill>
              </a:rPr>
              <a:t>Indicative results from the current data and dashboard method; final values depend on selected cluster count and refreshed input data.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5800" y="196596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3200" b="1">
                <a:solidFill>
                  <a:srgbClr val="0F172A"/>
                </a:solidFill>
              </a:rPr>
              <a:t>69,145</a:t>
            </a:r>
          </a:p>
          <a:p>
            <a:pPr>
              <a:buNone/>
            </a:pPr>
            <a:r>
              <a:rPr lang="en-GB" sz="1600" b="0">
                <a:solidFill>
                  <a:srgbClr val="475569"/>
                </a:solidFill>
              </a:rPr>
              <a:t>customer rows analysed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34840" y="196596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800" b="1">
                <a:solidFill>
                  <a:srgbClr val="0F172A"/>
                </a:solidFill>
              </a:rPr>
              <a:t>10 PCA components</a:t>
            </a:r>
          </a:p>
          <a:p>
            <a:pPr>
              <a:buNone/>
            </a:pPr>
            <a:r>
              <a:rPr lang="en-GB" sz="1600" b="0">
                <a:solidFill>
                  <a:srgbClr val="475569"/>
                </a:solidFill>
              </a:rPr>
              <a:t>retaining 92.2% explained variance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83879" y="196596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3200" b="1">
                <a:solidFill>
                  <a:srgbClr val="0F172A"/>
                </a:solidFill>
              </a:rPr>
              <a:t>~4.6k</a:t>
            </a:r>
          </a:p>
          <a:p>
            <a:pPr>
              <a:buNone/>
            </a:pPr>
            <a:r>
              <a:rPr lang="en-GB" sz="1600" b="0">
                <a:solidFill>
                  <a:srgbClr val="475569"/>
                </a:solidFill>
              </a:rPr>
              <a:t>over-rebated target customers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2960" y="3977639"/>
            <a:ext cx="1028700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600" b="1">
                <a:solidFill>
                  <a:srgbClr val="0F766E"/>
                </a:solidFill>
              </a:rPr>
              <a:t>Estimated target-customer opportunity: GBP 2.44m-2.47m across the 3, 4 and 5 cluster options.</a:t>
            </a:r>
          </a:p>
          <a:p>
            <a:pPr>
              <a:buNone/>
            </a:pPr>
            <a:r>
              <a:rPr lang="en-GB" sz="1500" b="0">
                <a:solidFill>
                  <a:srgbClr val="475569"/>
                </a:solidFill>
              </a:rPr>
              <a:t>This is the recovery potential from customers flagged as high-rebate outliers, not every customer with a positive gap.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40080" y="6446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800" b="0">
                <a:solidFill>
                  <a:srgbClr val="64748B"/>
                </a:solidFill>
              </a:rPr>
              <a:t>Customer Rebate Optimization Dashboard | Business approach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685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000" b="1">
                <a:solidFill>
                  <a:srgbClr val="0F172A"/>
                </a:solidFill>
              </a:rPr>
              <a:t>Operating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0">
                <a:solidFill>
                  <a:srgbClr val="475569"/>
                </a:solidFill>
              </a:rPr>
              <a:t>The workflow separates heavy data preparation from fast business review.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85800" y="1874519"/>
            <a:ext cx="4892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1">
                <a:solidFill>
                  <a:srgbClr val="0F172A"/>
                </a:solidFill>
              </a:rPr>
              <a:t>Data refresh</a:t>
            </a:r>
          </a:p>
          <a:p>
            <a:pPr marL="285750" indent="-171450">
              <a:buChar char="?"/>
            </a:pPr>
            <a:r>
              <a:rPr lang="en-GB" sz="1700" b="0">
                <a:solidFill>
                  <a:srgbClr val="334155"/>
                </a:solidFill>
              </a:rPr>
              <a:t>Run the PCA builder only when the source customer file changes.</a:t>
            </a:r>
          </a:p>
          <a:p>
            <a:pPr marL="285750" indent="-171450">
              <a:buChar char="?"/>
            </a:pPr>
            <a:r>
              <a:rPr lang="en-GB" sz="1700" b="0">
                <a:solidFill>
                  <a:srgbClr val="334155"/>
                </a:solidFill>
              </a:rPr>
              <a:t>The app reads the prepared PCA output and original business columns.</a:t>
            </a:r>
          </a:p>
          <a:p>
            <a:pPr marL="285750" indent="-171450">
              <a:buChar char="?"/>
            </a:pPr>
            <a:r>
              <a:rPr lang="en-GB" sz="1700" b="0">
                <a:solidFill>
                  <a:srgbClr val="334155"/>
                </a:solidFill>
              </a:rPr>
              <a:t>No preprocessing, scaling or PCA is rerun during stakeholder interaction.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80760" y="1874519"/>
            <a:ext cx="4892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1">
                <a:solidFill>
                  <a:srgbClr val="0F172A"/>
                </a:solidFill>
              </a:rPr>
              <a:t>User journeys</a:t>
            </a:r>
          </a:p>
          <a:p>
            <a:pPr marL="285750" indent="-171450">
              <a:buChar char="?"/>
            </a:pPr>
            <a:r>
              <a:rPr lang="en-GB" sz="1700" b="0">
                <a:solidFill>
                  <a:srgbClr val="334155"/>
                </a:solidFill>
              </a:rPr>
              <a:t>Pricing Team: choose cluster count, review targets, download report.</a:t>
            </a:r>
          </a:p>
          <a:p>
            <a:pPr marL="285750" indent="-171450">
              <a:buChar char="?"/>
            </a:pPr>
            <a:r>
              <a:rPr lang="en-GB" sz="1700" b="0">
                <a:solidFill>
                  <a:srgbClr val="334155"/>
                </a:solidFill>
              </a:rPr>
              <a:t>Data Science Team: inspect PCA metadata and compare KMeans/Gaussian Mixture.</a:t>
            </a:r>
          </a:p>
          <a:p>
            <a:pPr marL="285750" indent="-171450">
              <a:buChar char="?"/>
            </a:pPr>
            <a:r>
              <a:rPr lang="en-GB" sz="1700" b="0">
                <a:solidFill>
                  <a:srgbClr val="334155"/>
                </a:solidFill>
              </a:rPr>
              <a:t>Secure login gates dashboards before data loads.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40080" y="6446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800" b="0">
                <a:solidFill>
                  <a:srgbClr val="64748B"/>
                </a:solidFill>
              </a:rPr>
              <a:t>Customer Rebate Optimization Dashboard | Business approach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685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4000" b="1">
                <a:solidFill>
                  <a:srgbClr val="0F172A"/>
                </a:solidFill>
              </a:rPr>
              <a:t>How value is realised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100" b="0">
                <a:solidFill>
                  <a:srgbClr val="475569"/>
                </a:solidFill>
              </a:rPr>
              <a:t>The dashboard creates benefit only when insights are embedded into renewal decisions.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22960" y="1828800"/>
            <a:ext cx="3063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172A"/>
                </a:solidFill>
              </a:rPr>
              <a:t>1. Validate</a:t>
            </a:r>
          </a:p>
          <a:p>
            <a:pPr>
              <a:buNone/>
            </a:pPr>
            <a:r>
              <a:rPr lang="en-GB" sz="1700" b="0">
                <a:solidFill>
                  <a:srgbClr val="334155"/>
                </a:solidFill>
              </a:rPr>
              <a:t>Confirm the selected cluster count with commercial and data-science review.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526280" y="1828800"/>
            <a:ext cx="3063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172A"/>
                </a:solidFill>
              </a:rPr>
              <a:t>2. Action</a:t>
            </a:r>
          </a:p>
          <a:p>
            <a:pPr>
              <a:buNone/>
            </a:pPr>
            <a:r>
              <a:rPr lang="en-GB" sz="1700" b="0">
                <a:solidFill>
                  <a:srgbClr val="334155"/>
                </a:solidFill>
              </a:rPr>
              <a:t>Use the downloaded target list in renewal planning and rebate negotiation.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229600" y="1828800"/>
            <a:ext cx="3063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200" b="1">
                <a:solidFill>
                  <a:srgbClr val="0F172A"/>
                </a:solidFill>
              </a:rPr>
              <a:t>3. Track</a:t>
            </a:r>
          </a:p>
          <a:p>
            <a:pPr>
              <a:buNone/>
            </a:pPr>
            <a:r>
              <a:rPr lang="en-GB" sz="1700" b="0">
                <a:solidFill>
                  <a:srgbClr val="334155"/>
                </a:solidFill>
              </a:rPr>
              <a:t>Measure accepted rebate changes, realised savings, and exceptions requiring policy approval.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05840" y="4800600"/>
            <a:ext cx="95097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2000" b="1">
                <a:solidFill>
                  <a:srgbClr val="0F766E"/>
                </a:solidFill>
              </a:rPr>
              <a:t>Recommended stakeholder ask: approve a pilot using the current dashboard to review the top opportunity customers in the next renewal cycle.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40080" y="6446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/>
          <a:lstStyle/>
          <a:p>
            <a:pPr>
              <a:buNone/>
            </a:pPr>
            <a:r>
              <a:rPr lang="en-GB" sz="800" b="0">
                <a:solidFill>
                  <a:srgbClr val="64748B"/>
                </a:solidFill>
              </a:rPr>
              <a:t>Customer Rebate Optimization Dashboard | Business approach summary</a:t>
            </a:r>
          </a:p>
        </p:txBody>
      </p:sp>
    </p:spTree>
  </p:cSld>
  <p:clrMapOvr>
    <a:masterClrMapping/>
  </p:clrMapOvr>
</p:sld>
</file>